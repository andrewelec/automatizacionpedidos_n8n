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33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114800" cy="4114800"/>
          </a:xfrm>
          <a:prstGeom prst="ellipse">
            <a:avLst/>
          </a:prstGeom>
          <a:solidFill>
            <a:srgbClr val="028090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789920" y="4206240"/>
            <a:ext cx="2926080" cy="2926080"/>
          </a:xfrm>
          <a:prstGeom prst="ellipse">
            <a:avLst/>
          </a:prstGeom>
          <a:solidFill>
            <a:srgbClr val="02C39A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3716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PROYECTO DE AUTOMATIZACIÓN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1828800"/>
            <a:ext cx="10058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Toma de pedidos inteligente</a:t>
            </a:r>
            <a:endParaRPr lang="en-US" sz="4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 n8n, Telegram e IA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822960" y="3794760"/>
            <a:ext cx="8869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CFE6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asistente virtual que recibe pedidos en lenguaje natural, los cruza con el inventario y decide en segundos: confirma, propone alternativas o negocia con el cliente.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5074920"/>
            <a:ext cx="1197864" cy="457200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5074920"/>
            <a:ext cx="1197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Telegram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249424" y="5074920"/>
            <a:ext cx="1527048" cy="457200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10" name="Text 8"/>
          <p:cNvSpPr/>
          <p:nvPr/>
        </p:nvSpPr>
        <p:spPr>
          <a:xfrm>
            <a:off x="2249424" y="5074920"/>
            <a:ext cx="1527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(IA)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005072" y="5074920"/>
            <a:ext cx="1746504" cy="457200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12" name="Text 10"/>
          <p:cNvSpPr/>
          <p:nvPr/>
        </p:nvSpPr>
        <p:spPr>
          <a:xfrm>
            <a:off x="4005072" y="5074920"/>
            <a:ext cx="1746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Sheets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980176" y="5074920"/>
            <a:ext cx="649224" cy="457200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14" name="Text 12"/>
          <p:cNvSpPr/>
          <p:nvPr/>
        </p:nvSpPr>
        <p:spPr>
          <a:xfrm>
            <a:off x="5980176" y="5074920"/>
            <a:ext cx="649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n8n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PROBLEMA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proceso que consume horas y genera errores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66751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negocios pequeños y medianos —tiendas de repuestos, distribuidoras, ferreterías, minimercados— la toma de pedidos sigue siendo principalmente manual. Un empleado, o peor aún, el dueño, debe leer cada mensaje, interpretarlo, revisar el inventario, confirmar stock, proponer alternativas y registrar todo a mano, compitiendo con sus demás tareas.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7680960" y="1554480"/>
            <a:ext cx="3840480" cy="676656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82128" y="1755648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75320" y="1554480"/>
            <a:ext cx="31546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Pedidos mal anotados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7680960" y="2395728"/>
            <a:ext cx="3840480" cy="676656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2596896"/>
            <a:ext cx="274320" cy="2743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275320" y="2395728"/>
            <a:ext cx="31546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Productos vendidos sin stock real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7680960" y="3236976"/>
            <a:ext cx="3840480" cy="676656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2128" y="3438144"/>
            <a:ext cx="274320" cy="27432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275320" y="3236976"/>
            <a:ext cx="31546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Inventario desactualizado</a:t>
            </a:r>
            <a:endParaRPr lang="en-US" sz="1350" dirty="0"/>
          </a:p>
        </p:txBody>
      </p:sp>
      <p:sp>
        <p:nvSpPr>
          <p:cNvPr id="14" name="Shape 9"/>
          <p:cNvSpPr/>
          <p:nvPr/>
        </p:nvSpPr>
        <p:spPr>
          <a:xfrm>
            <a:off x="7680960" y="4078224"/>
            <a:ext cx="3840480" cy="676656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82128" y="4279392"/>
            <a:ext cx="274320" cy="27432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8275320" y="4078224"/>
            <a:ext cx="31546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Demoras en la toma del pedido</a:t>
            </a:r>
            <a:endParaRPr lang="en-US" sz="1350" dirty="0"/>
          </a:p>
        </p:txBody>
      </p:sp>
      <p:sp>
        <p:nvSpPr>
          <p:cNvPr id="17" name="Shape 11"/>
          <p:cNvSpPr/>
          <p:nvPr/>
        </p:nvSpPr>
        <p:spPr>
          <a:xfrm>
            <a:off x="7680960" y="4919472"/>
            <a:ext cx="3840480" cy="676656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82128" y="5120640"/>
            <a:ext cx="274320" cy="27432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8275320" y="4919472"/>
            <a:ext cx="31546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Pérdida de potenciales clientes</a:t>
            </a:r>
            <a:endParaRPr lang="en-US" sz="1350" dirty="0"/>
          </a:p>
        </p:txBody>
      </p:sp>
      <p:sp>
        <p:nvSpPr>
          <p:cNvPr id="20" name="Text 13"/>
          <p:cNvSpPr/>
          <p:nvPr/>
        </p:nvSpPr>
        <p:spPr>
          <a:xfrm>
            <a:off x="640080" y="3977640"/>
            <a:ext cx="6675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 un proceso de reglas claras que se repite muchas veces al día: </a:t>
            </a:r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alta frecuencia, lógica definida y bajo valor agregado en la ejecución manual. El candidato ideal para automatizar.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DIAGNÓSTICO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Mapeo del flujo antes de automatizar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2139696" cy="3566160"/>
          </a:xfrm>
          <a:prstGeom prst="roundRect">
            <a:avLst>
              <a:gd name="adj" fmla="val 34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947672"/>
            <a:ext cx="777240" cy="7772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6696" y="2139696"/>
            <a:ext cx="402336" cy="40233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4672" y="2926080"/>
            <a:ext cx="18105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Pasos en orden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04672" y="3520440"/>
            <a:ext cx="181051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Recibir, interpretar, cruzar con inventario, decidir, registrar y descontar stock.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2944368" y="1691640"/>
            <a:ext cx="2139696" cy="3566160"/>
          </a:xfrm>
          <a:prstGeom prst="roundRect">
            <a:avLst>
              <a:gd name="adj" fmla="val 3419"/>
            </a:avLst>
          </a:prstGeom>
          <a:solidFill>
            <a:srgbClr val="028090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108960" y="1947672"/>
            <a:ext cx="777240" cy="77724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0984" y="2139696"/>
            <a:ext cx="402336" cy="40233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108960" y="2926080"/>
            <a:ext cx="18105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Entradas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3108960" y="3520440"/>
            <a:ext cx="181051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5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Mensaje del cliente en lenguaje natural y catálogo de inventario.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248656" y="1691640"/>
            <a:ext cx="2139696" cy="3566160"/>
          </a:xfrm>
          <a:prstGeom prst="roundRect">
            <a:avLst>
              <a:gd name="adj" fmla="val 3419"/>
            </a:avLst>
          </a:prstGeom>
          <a:solidFill>
            <a:srgbClr val="028090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5413248" y="1947672"/>
            <a:ext cx="777240" cy="77724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5272" y="2139696"/>
            <a:ext cx="402336" cy="40233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413248" y="2926080"/>
            <a:ext cx="18105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Salidas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5413248" y="3520440"/>
            <a:ext cx="181051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5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Pedido registrado, confirmación al cliente e inventario actualizado.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7552944" y="1691640"/>
            <a:ext cx="2139696" cy="3566160"/>
          </a:xfrm>
          <a:prstGeom prst="roundRect">
            <a:avLst>
              <a:gd name="adj" fmla="val 34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717536" y="1947672"/>
            <a:ext cx="777240" cy="7772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09560" y="2139696"/>
            <a:ext cx="402336" cy="40233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717536" y="2926080"/>
            <a:ext cx="18105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Responsable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7717536" y="3520440"/>
            <a:ext cx="181051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Antes: el empleado o dueño en cada paso. Después: el flujo, de forma autónoma.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9857232" y="1691640"/>
            <a:ext cx="2139696" cy="3566160"/>
          </a:xfrm>
          <a:prstGeom prst="roundRect">
            <a:avLst>
              <a:gd name="adj" fmla="val 34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10021824" y="1947672"/>
            <a:ext cx="777240" cy="7772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13848" y="2139696"/>
            <a:ext cx="402336" cy="402336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0021824" y="2926080"/>
            <a:ext cx="18105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Puntos de falla</a:t>
            </a:r>
            <a:endParaRPr lang="en-US" sz="1600" dirty="0"/>
          </a:p>
        </p:txBody>
      </p:sp>
      <p:sp>
        <p:nvSpPr>
          <p:cNvPr id="28" name="Text 21"/>
          <p:cNvSpPr/>
          <p:nvPr/>
        </p:nvSpPr>
        <p:spPr>
          <a:xfrm>
            <a:off x="10021824" y="3520440"/>
            <a:ext cx="181051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Interpretación errónea y venta sin stock real, mitigados por IA y verificación automática.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SOLUCIÓN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flujo construido con n8n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Recibe los pedidos por Telegram, los interpreta con IA (Gemini) y ejecuta un árbol de decisión conectado a un inventario en Google Sheets, ejemplificado con una tienda de repuestos y accesorios electrónicos.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338328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96112" y="2578608"/>
            <a:ext cx="777240" cy="7772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8136" y="2770632"/>
            <a:ext cx="402336" cy="40233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2596896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Recepción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914400" y="3364992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bot de Telegram recibe el mensaje del cliente.</a:t>
            </a:r>
            <a:endParaRPr lang="en-US" sz="125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2232" y="3035808"/>
            <a:ext cx="329184" cy="329184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590288" y="2286000"/>
            <a:ext cx="338328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846320" y="2578608"/>
            <a:ext cx="777240" cy="7772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8344" y="2770632"/>
            <a:ext cx="402336" cy="40233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779008" y="2596896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Interpretación con IA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4864608" y="3364992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mapea el texto natural contra el catálogo: ID, cantidad y confianza.</a:t>
            </a:r>
            <a:endParaRPr lang="en-US" sz="125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2440" y="3035808"/>
            <a:ext cx="329184" cy="329184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540496" y="2286000"/>
            <a:ext cx="338328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796528" y="2578608"/>
            <a:ext cx="777240" cy="7772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88552" y="2770632"/>
            <a:ext cx="402336" cy="402336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9729216" y="2596896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Cruce con inventario</a:t>
            </a:r>
            <a:endParaRPr lang="en-US" sz="1600" dirty="0"/>
          </a:p>
        </p:txBody>
      </p:sp>
      <p:sp>
        <p:nvSpPr>
          <p:cNvPr id="21" name="Text 14"/>
          <p:cNvSpPr/>
          <p:nvPr/>
        </p:nvSpPr>
        <p:spPr>
          <a:xfrm>
            <a:off x="8814816" y="3364992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Lee Google Sheets y verifica el stock de cada producto.</a:t>
            </a:r>
            <a:endParaRPr lang="en-US" sz="1250" dirty="0"/>
          </a:p>
        </p:txBody>
      </p:sp>
      <p:sp>
        <p:nvSpPr>
          <p:cNvPr id="22" name="Shape 15"/>
          <p:cNvSpPr/>
          <p:nvPr/>
        </p:nvSpPr>
        <p:spPr>
          <a:xfrm>
            <a:off x="640080" y="4526280"/>
            <a:ext cx="10881360" cy="1417320"/>
          </a:xfrm>
          <a:prstGeom prst="roundRect">
            <a:avLst>
              <a:gd name="adj" fmla="val 5161"/>
            </a:avLst>
          </a:prstGeom>
          <a:solidFill>
            <a:srgbClr val="EAF4F4"/>
          </a:solidFill>
          <a:ln/>
        </p:spPr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" y="4892040"/>
            <a:ext cx="502920" cy="502920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1600200" y="4526280"/>
            <a:ext cx="96926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Conversación de ida y vuelta.  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Cuando el cliente responde tocando un botón, el flujo captura ese evento y reanuda el proceso para cerrar el pedido elegido, sin perder el contexto.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INTELIGENCIA DEL FLUJO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Cuatro rutas de decisión por cada producto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39496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32688" y="2240280"/>
            <a:ext cx="868680" cy="86868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2144" y="2459736"/>
            <a:ext cx="429768" cy="42976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011680" y="201168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Disponible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2011680" y="2514600"/>
            <a:ext cx="3794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Hay stock suficiente: se crea el pedido y se confirma al cliente al instante.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263640" y="1737360"/>
            <a:ext cx="539496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56248" y="2240280"/>
            <a:ext cx="868680" cy="86868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5704" y="2459736"/>
            <a:ext cx="429768" cy="42976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635240" y="201168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 stock</a:t>
            </a:r>
            <a:endParaRPr lang="en-US" sz="1900" dirty="0"/>
          </a:p>
        </p:txBody>
      </p:sp>
      <p:sp>
        <p:nvSpPr>
          <p:cNvPr id="13" name="Text 9"/>
          <p:cNvSpPr/>
          <p:nvPr/>
        </p:nvSpPr>
        <p:spPr>
          <a:xfrm>
            <a:off x="7635240" y="2514600"/>
            <a:ext cx="3794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Producto agotado: se proponen sustitutos con existencias mediante botones; el cliente elige.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3822192"/>
            <a:ext cx="539496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32688" y="4325112"/>
            <a:ext cx="868680" cy="86868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2144" y="4544568"/>
            <a:ext cx="429768" cy="42976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2011680" y="4096512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Ambiguo</a:t>
            </a:r>
            <a:endParaRPr lang="en-US" sz="1900" dirty="0"/>
          </a:p>
        </p:txBody>
      </p:sp>
      <p:sp>
        <p:nvSpPr>
          <p:cNvPr id="18" name="Text 13"/>
          <p:cNvSpPr/>
          <p:nvPr/>
        </p:nvSpPr>
        <p:spPr>
          <a:xfrm>
            <a:off x="2011680" y="4599432"/>
            <a:ext cx="3794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pedido encaja con varios productos (ej. "RAM 16GB"): se ofrecen las opciones y decide el cliente.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6263640" y="3822192"/>
            <a:ext cx="539496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556248" y="4325112"/>
            <a:ext cx="868680" cy="868680"/>
          </a:xfrm>
          <a:prstGeom prst="ellipse">
            <a:avLst/>
          </a:prstGeom>
          <a:solidFill>
            <a:srgbClr val="0E6E78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75704" y="4544568"/>
            <a:ext cx="429768" cy="42976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635240" y="4096512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existe</a:t>
            </a:r>
            <a:endParaRPr lang="en-US" sz="1900" dirty="0"/>
          </a:p>
        </p:txBody>
      </p:sp>
      <p:sp>
        <p:nvSpPr>
          <p:cNvPr id="23" name="Text 17"/>
          <p:cNvSpPr/>
          <p:nvPr/>
        </p:nvSpPr>
        <p:spPr>
          <a:xfrm>
            <a:off x="7635240" y="4599432"/>
            <a:ext cx="3794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producto no está en el catálogo: se avisa al cliente de forma clara.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COSTO DE HACERLO A MANO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Una rutina normal sin la herramienta</a:t>
            </a:r>
            <a:endParaRPr lang="en-US" sz="3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91640"/>
          <a:ext cx="7315200" cy="914400"/>
        </p:xfrm>
        <a:graphic>
          <a:graphicData uri="http://schemas.openxmlformats.org/drawingml/2006/table">
            <a:tbl>
              <a:tblPr/>
              <a:tblGrid>
                <a:gridCol w="5212080"/>
                <a:gridCol w="210312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Tarea manual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Tiempo aproximado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E293B"/>
                          </a:solidFill>
                        </a:rPr>
                        <a:t>Leer e interpretar el mensaje del cliente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1E293B"/>
                          </a:solidFill>
                        </a:rPr>
                        <a:t>1–2 min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E293B"/>
                          </a:solidFill>
                        </a:rPr>
                        <a:t>Buscar cada producto en el inventario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1E293B"/>
                          </a:solidFill>
                        </a:rPr>
                        <a:t>2–3 min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E293B"/>
                          </a:solidFill>
                        </a:rPr>
                        <a:t>Verificar stock y decidir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1E293B"/>
                          </a:solidFill>
                        </a:rPr>
                        <a:t>1 min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E293B"/>
                          </a:solidFill>
                        </a:rPr>
                        <a:t>Si falta stock: buscar alternativa y escribir al cliente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1E293B"/>
                          </a:solidFill>
                        </a:rPr>
                        <a:t>3–5 min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E293B"/>
                          </a:solidFill>
                        </a:rPr>
                        <a:t>Esperar respuesta y cerrar el pedido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1E293B"/>
                          </a:solidFill>
                        </a:rPr>
                        <a:t>variable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E293B"/>
                          </a:solidFill>
                        </a:rPr>
                        <a:t>Anotar el pedido en la hoja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1E293B"/>
                          </a:solidFill>
                        </a:rPr>
                        <a:t>2 min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E293B"/>
                          </a:solidFill>
                        </a:rPr>
                        <a:t>Descontar inventario manualmente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1E293B"/>
                          </a:solidFill>
                        </a:rPr>
                        <a:t>1–2 min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</a:rPr>
                        <a:t>Total por pedido</a:t>
                      </a:r>
                      <a:endParaRPr lang="en-US" sz="14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3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</a:rPr>
                        <a:t>10–15 min  (más si hay negociación)</a:t>
                      </a:r>
                      <a:endParaRPr lang="en-US" sz="14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333A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8321040" y="1691640"/>
            <a:ext cx="3200400" cy="4069080"/>
          </a:xfrm>
          <a:prstGeom prst="roundRect">
            <a:avLst>
              <a:gd name="adj" fmla="val 2857"/>
            </a:avLst>
          </a:prstGeom>
          <a:solidFill>
            <a:srgbClr val="028090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46920" y="2103120"/>
            <a:ext cx="548640" cy="54864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549640" y="27889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FE6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20 pedidos al día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8549640" y="310896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3–5 h</a:t>
            </a:r>
            <a:endParaRPr lang="en-US" sz="5400" dirty="0"/>
          </a:p>
        </p:txBody>
      </p:sp>
      <p:sp>
        <p:nvSpPr>
          <p:cNvPr id="9" name="Text 5"/>
          <p:cNvSpPr/>
          <p:nvPr/>
        </p:nvSpPr>
        <p:spPr>
          <a:xfrm>
            <a:off x="8549640" y="416052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5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dedicadas solo a tomar pedidos, fragmentando la atención del responsable.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CUÁNTO AYUDA EL FLUJO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impacto: tiempo y dinero recuperados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356616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1920240"/>
            <a:ext cx="731520" cy="7315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210312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32688" y="2670048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~0 min</a:t>
            </a:r>
            <a:endParaRPr lang="en-US" sz="3600" dirty="0"/>
          </a:p>
        </p:txBody>
      </p:sp>
      <p:sp>
        <p:nvSpPr>
          <p:cNvPr id="8" name="Text 5"/>
          <p:cNvSpPr/>
          <p:nvPr/>
        </p:nvSpPr>
        <p:spPr>
          <a:xfrm>
            <a:off x="950976" y="3383280"/>
            <a:ext cx="29809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operación por pedido en los casos estándar; el sistema interpreta, decide y registra solo.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480560" y="1645920"/>
            <a:ext cx="3566160" cy="2514600"/>
          </a:xfrm>
          <a:prstGeom prst="roundRect">
            <a:avLst>
              <a:gd name="adj" fmla="val 3636"/>
            </a:avLst>
          </a:prstGeom>
          <a:solidFill>
            <a:srgbClr val="028090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800600" y="1920240"/>
            <a:ext cx="731520" cy="73152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210312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73168" y="2670048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 h</a:t>
            </a:r>
            <a:endParaRPr lang="en-US" sz="3600" dirty="0"/>
          </a:p>
        </p:txBody>
      </p:sp>
      <p:sp>
        <p:nvSpPr>
          <p:cNvPr id="13" name="Text 9"/>
          <p:cNvSpPr/>
          <p:nvPr/>
        </p:nvSpPr>
        <p:spPr>
          <a:xfrm>
            <a:off x="4791456" y="3383280"/>
            <a:ext cx="29809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5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liberadas al mes, que el responsable dedica a tareas de mayor valor.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321040" y="1645920"/>
            <a:ext cx="356616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41080" y="1920240"/>
            <a:ext cx="731520" cy="7315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23960" y="2103120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13648" y="2670048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480 USD</a:t>
            </a:r>
            <a:endParaRPr lang="en-US" sz="3600" dirty="0"/>
          </a:p>
        </p:txBody>
      </p:sp>
      <p:sp>
        <p:nvSpPr>
          <p:cNvPr id="18" name="Text 13"/>
          <p:cNvSpPr/>
          <p:nvPr/>
        </p:nvSpPr>
        <p:spPr>
          <a:xfrm>
            <a:off x="8631936" y="3383280"/>
            <a:ext cx="29809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ahorrados al mes (estimado a 6 USD/hora de costo del responsable).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640080" y="45262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 otros ahorros menos visibles, pero reales:</a:t>
            </a:r>
            <a:endParaRPr lang="en-US" sz="1400" dirty="0"/>
          </a:p>
        </p:txBody>
      </p:sp>
      <p:sp>
        <p:nvSpPr>
          <p:cNvPr id="20" name="Shape 15"/>
          <p:cNvSpPr/>
          <p:nvPr/>
        </p:nvSpPr>
        <p:spPr>
          <a:xfrm>
            <a:off x="640080" y="4983480"/>
            <a:ext cx="2670048" cy="100584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822960" y="5166360"/>
            <a:ext cx="310896" cy="310896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968" y="5230368"/>
            <a:ext cx="182880" cy="18288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234440" y="4983480"/>
            <a:ext cx="193852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Menos ventas perdidas por stock agotado</a:t>
            </a:r>
            <a:endParaRPr lang="en-US" sz="1250" dirty="0"/>
          </a:p>
        </p:txBody>
      </p:sp>
      <p:sp>
        <p:nvSpPr>
          <p:cNvPr id="24" name="Shape 18"/>
          <p:cNvSpPr/>
          <p:nvPr/>
        </p:nvSpPr>
        <p:spPr>
          <a:xfrm>
            <a:off x="3364992" y="4983480"/>
            <a:ext cx="2670048" cy="100584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3547872" y="5166360"/>
            <a:ext cx="310896" cy="310896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11880" y="5230368"/>
            <a:ext cx="182880" cy="18288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3959352" y="4983480"/>
            <a:ext cx="193852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Menos quiebres o sobrecompra de inventario</a:t>
            </a:r>
            <a:endParaRPr lang="en-US" sz="1250" dirty="0"/>
          </a:p>
        </p:txBody>
      </p:sp>
      <p:sp>
        <p:nvSpPr>
          <p:cNvPr id="28" name="Shape 21"/>
          <p:cNvSpPr/>
          <p:nvPr/>
        </p:nvSpPr>
        <p:spPr>
          <a:xfrm>
            <a:off x="6089904" y="4983480"/>
            <a:ext cx="2670048" cy="100584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9" name="Shape 22"/>
          <p:cNvSpPr/>
          <p:nvPr/>
        </p:nvSpPr>
        <p:spPr>
          <a:xfrm>
            <a:off x="6272784" y="5166360"/>
            <a:ext cx="310896" cy="310896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36792" y="5230368"/>
            <a:ext cx="182880" cy="182880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6684264" y="4983480"/>
            <a:ext cx="193852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Menos errores de transcripción</a:t>
            </a:r>
            <a:endParaRPr lang="en-US" sz="1250" dirty="0"/>
          </a:p>
        </p:txBody>
      </p:sp>
      <p:sp>
        <p:nvSpPr>
          <p:cNvPr id="32" name="Shape 24"/>
          <p:cNvSpPr/>
          <p:nvPr/>
        </p:nvSpPr>
        <p:spPr>
          <a:xfrm>
            <a:off x="8814816" y="4983480"/>
            <a:ext cx="2670048" cy="100584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33" name="Shape 25"/>
          <p:cNvSpPr/>
          <p:nvPr/>
        </p:nvSpPr>
        <p:spPr>
          <a:xfrm>
            <a:off x="8997696" y="5166360"/>
            <a:ext cx="310896" cy="310896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3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61704" y="5230368"/>
            <a:ext cx="182880" cy="182880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9409176" y="4983480"/>
            <a:ext cx="193852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Atención al cliente inmediata, a cualquier hora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533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023360"/>
            <a:ext cx="4114800" cy="4114800"/>
          </a:xfrm>
          <a:prstGeom prst="ellipse">
            <a:avLst/>
          </a:prstGeom>
          <a:solidFill>
            <a:srgbClr val="028090">
              <a:alpha val="2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-1371600"/>
            <a:ext cx="3474720" cy="3474720"/>
          </a:xfrm>
          <a:prstGeom prst="ellipse">
            <a:avLst/>
          </a:prstGeom>
          <a:solidFill>
            <a:srgbClr val="02C39A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2344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 CONCRETO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1691640"/>
            <a:ext cx="10332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ejecutar cada pedido a supervisar excepciones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822960" y="3063240"/>
            <a:ext cx="10058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700" dirty="0">
                <a:solidFill>
                  <a:srgbClr val="DCEA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flujo convierte un proceso manual, lento y propenso a errores, que consumía varias horas diarias de un responsable saturado, en un sistema autónomo que recibe el pedido, lo interpreta, decide, negocia con el cliente y lo registra. El responsable pasa de ejecutar cada pedido a supervisar excepciones, liberando del orden de 80 horas al mes para tareas de mayor valor.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22960" y="54864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Recibe  ·  Interpreta  ·  Decide  ·  Negocia  ·  Registra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Automatización de toma de pedidos con n8n</dc:title>
  <dc:subject>PptxGenJS Presentation</dc:subject>
  <dc:creator>Andrés</dc:creator>
  <cp:lastModifiedBy>Andrés</cp:lastModifiedBy>
  <cp:revision>1</cp:revision>
  <dcterms:created xsi:type="dcterms:W3CDTF">2026-06-12T17:38:22Z</dcterms:created>
  <dcterms:modified xsi:type="dcterms:W3CDTF">2026-06-12T17:38:22Z</dcterms:modified>
</cp:coreProperties>
</file>